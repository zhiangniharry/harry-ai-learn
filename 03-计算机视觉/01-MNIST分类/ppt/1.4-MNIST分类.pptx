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04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0" y="-457200"/>
            <a:ext cx="4572000" cy="4572000"/>
          </a:xfrm>
          <a:prstGeom prst="ellipse">
            <a:avLst/>
          </a:prstGeom>
          <a:solidFill>
            <a:srgbClr val="0077B6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365760"/>
            <a:ext cx="1645920" cy="347472"/>
          </a:xfrm>
          <a:prstGeom prst="roundRect">
            <a:avLst>
              <a:gd name="adj" fmla="val 26316"/>
            </a:avLst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6576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计算机视觉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90E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课程 1.4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MNIST 手写数字分类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57200" y="2880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CNN 卷积神经网络实战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57200" y="3520440"/>
            <a:ext cx="3200400" cy="27432"/>
          </a:xfrm>
          <a:prstGeom prst="rect">
            <a:avLst/>
          </a:prstGeom>
          <a:solidFill>
            <a:srgbClr val="90E0EF">
              <a:alpha val="5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3749040"/>
            <a:ext cx="2194560" cy="384048"/>
          </a:xfrm>
          <a:prstGeom prst="roundRect">
            <a:avLst>
              <a:gd name="adj" fmla="val 23810"/>
            </a:avLst>
          </a:prstGeom>
          <a:solidFill>
            <a:srgbClr val="0077B6">
              <a:alpha val="7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74904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0E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准确率 &gt; 98%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B4D8">
              <a:alpha val="4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0304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课程导航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109728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80160"/>
            <a:ext cx="39319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481328"/>
            <a:ext cx="548640" cy="548640"/>
          </a:xfrm>
          <a:prstGeom prst="ellipse">
            <a:avLst/>
          </a:prstGeom>
          <a:solidFill>
            <a:srgbClr val="03045E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4813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144475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MNIST 数据集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179222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数据加载与预处理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280160"/>
            <a:ext cx="39319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1481328"/>
            <a:ext cx="548640" cy="548640"/>
          </a:xfrm>
          <a:prstGeom prst="ellipse">
            <a:avLst/>
          </a:prstGeom>
          <a:solidFill>
            <a:srgbClr val="03045E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14813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0" y="144475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卷积层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0" y="179222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Conv2d 核心原理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468880"/>
            <a:ext cx="39319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4360" y="2670048"/>
            <a:ext cx="548640" cy="548640"/>
          </a:xfrm>
          <a:prstGeom prst="ellipse">
            <a:avLst/>
          </a:prstGeom>
          <a:solidFill>
            <a:srgbClr val="03045E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26700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80160" y="263347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激活函数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80160" y="298094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ReLU 非线性变换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63440" y="2468880"/>
            <a:ext cx="39319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00600" y="2670048"/>
            <a:ext cx="548640" cy="548640"/>
          </a:xfrm>
          <a:prstGeom prst="ellipse">
            <a:avLst/>
          </a:prstGeom>
          <a:solidFill>
            <a:srgbClr val="03045E"/>
          </a:solidFill>
          <a:ln/>
        </p:spPr>
      </p:sp>
      <p:sp>
        <p:nvSpPr>
          <p:cNvPr id="23" name="Text 21"/>
          <p:cNvSpPr/>
          <p:nvPr/>
        </p:nvSpPr>
        <p:spPr>
          <a:xfrm>
            <a:off x="4800600" y="26700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0" y="263347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池化层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86400" y="298094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MaxPool 信息压缩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3657600"/>
            <a:ext cx="39319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94360" y="3858768"/>
            <a:ext cx="548640" cy="548640"/>
          </a:xfrm>
          <a:prstGeom prst="ellipse">
            <a:avLst/>
          </a:prstGeom>
          <a:solidFill>
            <a:srgbClr val="03045E"/>
          </a:solidFill>
          <a:ln/>
        </p:spPr>
      </p:sp>
      <p:sp>
        <p:nvSpPr>
          <p:cNvPr id="28" name="Text 26"/>
          <p:cNvSpPr/>
          <p:nvPr/>
        </p:nvSpPr>
        <p:spPr>
          <a:xfrm>
            <a:off x="594360" y="38587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280160" y="382219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全连接层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280160" y="416966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FC 层分类输出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663440" y="3657600"/>
            <a:ext cx="39319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00600" y="3858768"/>
            <a:ext cx="548640" cy="548640"/>
          </a:xfrm>
          <a:prstGeom prst="ellipse">
            <a:avLst/>
          </a:prstGeom>
          <a:solidFill>
            <a:srgbClr val="03045E"/>
          </a:solidFill>
          <a:ln/>
        </p:spPr>
      </p:sp>
      <p:sp>
        <p:nvSpPr>
          <p:cNvPr id="33" name="Text 31"/>
          <p:cNvSpPr/>
          <p:nvPr/>
        </p:nvSpPr>
        <p:spPr>
          <a:xfrm>
            <a:off x="4800600" y="38587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486400" y="382219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 CNN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486400" y="416966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端到端实战训练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7" name="Text 3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09728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64008" cy="80467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" y="1389888"/>
            <a:ext cx="502920" cy="402336"/>
          </a:xfrm>
          <a:prstGeom prst="roundRect">
            <a:avLst>
              <a:gd name="adj" fmla="val 18182"/>
            </a:avLst>
          </a:prstGeom>
          <a:solidFill>
            <a:srgbClr val="03045E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1389888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25880" y="1298448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 CNN 的四大组件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25880" y="1627632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 Conv / ReLU / Pool / FC 四层结构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103120"/>
            <a:ext cx="822960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103120"/>
            <a:ext cx="64008" cy="80467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3" name="Shape 11"/>
          <p:cNvSpPr/>
          <p:nvPr/>
        </p:nvSpPr>
        <p:spPr>
          <a:xfrm>
            <a:off x="658368" y="2304288"/>
            <a:ext cx="502920" cy="402336"/>
          </a:xfrm>
          <a:prstGeom prst="roundRect">
            <a:avLst>
              <a:gd name="adj" fmla="val 18182"/>
            </a:avLst>
          </a:prstGeom>
          <a:solidFill>
            <a:srgbClr val="03045E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2304288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25880" y="2212848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理解卷积核尺寸变化公式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25880" y="2542032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H_out = ⌊(H_in + 2p - k) / s⌋ + 1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017520"/>
            <a:ext cx="822960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017520"/>
            <a:ext cx="64008" cy="80467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218688"/>
            <a:ext cx="502920" cy="402336"/>
          </a:xfrm>
          <a:prstGeom prst="roundRect">
            <a:avLst>
              <a:gd name="adj" fmla="val 18182"/>
            </a:avLst>
          </a:prstGeom>
          <a:solidFill>
            <a:srgbClr val="03045E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218688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325880" y="3127248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独立实现 MNIST CNN 分类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25880" y="3456432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从数据加载到模型训练完整流程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3931920"/>
            <a:ext cx="822960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931920"/>
            <a:ext cx="64008" cy="80467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5" name="Shape 23"/>
          <p:cNvSpPr/>
          <p:nvPr/>
        </p:nvSpPr>
        <p:spPr>
          <a:xfrm>
            <a:off x="658368" y="4133088"/>
            <a:ext cx="502920" cy="402336"/>
          </a:xfrm>
          <a:prstGeom prst="roundRect">
            <a:avLst>
              <a:gd name="adj" fmla="val 18182"/>
            </a:avLst>
          </a:prstGeom>
          <a:solidFill>
            <a:srgbClr val="03045E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" y="4133088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325880" y="4041648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判断模型是否过拟合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325880" y="4370832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理解训练/测试准确率 Gap，分析泛化能力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0" name="Text 2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MNIST 数据集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09728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18288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97280" y="1298448"/>
            <a:ext cx="548640" cy="548640"/>
          </a:xfrm>
          <a:prstGeom prst="ellipse">
            <a:avLst/>
          </a:prstGeom>
          <a:solidFill>
            <a:srgbClr val="90E0EF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2984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30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28×28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84708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图片尺寸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23160" y="1188720"/>
            <a:ext cx="18288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063240" y="1298448"/>
            <a:ext cx="548640" cy="548640"/>
          </a:xfrm>
          <a:prstGeom prst="ellipse">
            <a:avLst/>
          </a:prstGeom>
          <a:solidFill>
            <a:srgbClr val="90E0EF">
              <a:alpha val="5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3063240" y="12984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30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14600" y="184708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类别数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286000"/>
            <a:ext cx="18288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97280" y="2395728"/>
            <a:ext cx="548640" cy="548640"/>
          </a:xfrm>
          <a:prstGeom prst="ellipse">
            <a:avLst/>
          </a:prstGeom>
          <a:solidFill>
            <a:srgbClr val="90E0EF">
              <a:alpha val="5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23957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30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29443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训练集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423160" y="2286000"/>
            <a:ext cx="18288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063240" y="2395728"/>
            <a:ext cx="548640" cy="548640"/>
          </a:xfrm>
          <a:prstGeom prst="ellipse">
            <a:avLst/>
          </a:prstGeom>
          <a:solidFill>
            <a:srgbClr val="90E0EF">
              <a:alpha val="5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3063240" y="23957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30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10K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514600" y="29443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测试集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434840" y="1188720"/>
            <a:ext cx="0" cy="3291840"/>
          </a:xfrm>
          <a:prstGeom prst="line">
            <a:avLst/>
          </a:prstGeom>
          <a:noFill/>
          <a:ln w="19050">
            <a:solidFill>
              <a:srgbClr val="90E0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11887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数据标准化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663440" y="1600200"/>
            <a:ext cx="4023360" cy="594360"/>
          </a:xfrm>
          <a:prstGeom prst="roundRect">
            <a:avLst>
              <a:gd name="adj" fmla="val 12308"/>
            </a:avLst>
          </a:prstGeom>
          <a:solidFill>
            <a:srgbClr val="1E1E1E"/>
          </a:solidFill>
          <a:ln/>
        </p:spPr>
      </p:sp>
      <p:sp>
        <p:nvSpPr>
          <p:cNvPr id="24" name="Text 22"/>
          <p:cNvSpPr/>
          <p:nvPr/>
        </p:nvSpPr>
        <p:spPr>
          <a:xfrm>
            <a:off x="4800600" y="160020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transforms.Normalize((0.1307,), (0.3081,))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63440" y="23317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均值 0.1307: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035040" y="233172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每个像素减去 0.1307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663440" y="271576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标准差 0.3081: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035040" y="271576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结果除以 0.3081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663440" y="309981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效果: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035040" y="3099816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像素值标准化到以 0 为中心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663440" y="35661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数据变换流程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663440" y="3931920"/>
            <a:ext cx="1188720" cy="640080"/>
          </a:xfrm>
          <a:prstGeom prst="roundRect">
            <a:avLst>
              <a:gd name="adj" fmla="val 11429"/>
            </a:avLst>
          </a:prstGeom>
          <a:solidFill>
            <a:srgbClr val="0077B6"/>
          </a:solidFill>
          <a:ln/>
        </p:spPr>
      </p:sp>
      <p:sp>
        <p:nvSpPr>
          <p:cNvPr id="33" name="Text 31"/>
          <p:cNvSpPr/>
          <p:nvPr/>
        </p:nvSpPr>
        <p:spPr>
          <a:xfrm>
            <a:off x="4663440" y="393192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663440" y="420624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[0, 255]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806440" y="3931920"/>
            <a:ext cx="228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5989320" y="3931920"/>
            <a:ext cx="1188720" cy="640080"/>
          </a:xfrm>
          <a:prstGeom prst="roundRect">
            <a:avLst>
              <a:gd name="adj" fmla="val 11429"/>
            </a:avLst>
          </a:prstGeom>
          <a:solidFill>
            <a:srgbClr val="00B4D8"/>
          </a:solidFill>
          <a:ln/>
        </p:spPr>
      </p:sp>
      <p:sp>
        <p:nvSpPr>
          <p:cNvPr id="37" name="Text 35"/>
          <p:cNvSpPr/>
          <p:nvPr/>
        </p:nvSpPr>
        <p:spPr>
          <a:xfrm>
            <a:off x="5989320" y="393192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ToTensor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989320" y="420624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[0, 1]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132320" y="3931920"/>
            <a:ext cx="228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7315200" y="3931920"/>
            <a:ext cx="1188720" cy="640080"/>
          </a:xfrm>
          <a:prstGeom prst="roundRect">
            <a:avLst>
              <a:gd name="adj" fmla="val 11429"/>
            </a:avLst>
          </a:prstGeom>
          <a:solidFill>
            <a:srgbClr val="03045E"/>
          </a:solidFill>
          <a:ln/>
        </p:spPr>
      </p:sp>
      <p:sp>
        <p:nvSpPr>
          <p:cNvPr id="41" name="Text 39"/>
          <p:cNvSpPr/>
          <p:nvPr/>
        </p:nvSpPr>
        <p:spPr>
          <a:xfrm>
            <a:off x="7315200" y="393192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Normalize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315200" y="420624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[-0.42, +2.82]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44" name="Text 4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卷积层（Conv2d）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09728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4023360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402336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234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304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in_channels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83280" y="1261872"/>
            <a:ext cx="914400" cy="292608"/>
          </a:xfrm>
          <a:prstGeom prst="roundRect">
            <a:avLst>
              <a:gd name="adj" fmla="val 25000"/>
            </a:avLst>
          </a:prstGeom>
          <a:solidFill>
            <a:srgbClr val="90E0EF">
              <a:alpha val="6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126187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30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15727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输入通道数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18470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灰度图 = 1，彩色图 = 3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1097280"/>
            <a:ext cx="4023360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097280"/>
            <a:ext cx="402336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234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304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out_channels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635240" y="1261872"/>
            <a:ext cx="914400" cy="292608"/>
          </a:xfrm>
          <a:prstGeom prst="roundRect">
            <a:avLst>
              <a:gd name="adj" fmla="val 25000"/>
            </a:avLst>
          </a:prstGeom>
          <a:solidFill>
            <a:srgbClr val="90E0EF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7635240" y="126187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30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46320" y="15727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输出特征图数量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0" y="18470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 学多少种不同特征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377440"/>
            <a:ext cx="4023360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377440"/>
            <a:ext cx="402336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2514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304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kernel_size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383280" y="2542032"/>
            <a:ext cx="914400" cy="292608"/>
          </a:xfrm>
          <a:prstGeom prst="roundRect">
            <a:avLst>
              <a:gd name="adj" fmla="val 25000"/>
            </a:avLst>
          </a:prstGeom>
          <a:solidFill>
            <a:srgbClr val="90E0EF">
              <a:alpha val="6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3383280" y="254203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30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94360" y="28529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卷积核尺寸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94360" y="31272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= 3×3，常用 3 或 5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09160" y="2377440"/>
            <a:ext cx="4023360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2377440"/>
            <a:ext cx="402336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2514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304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padding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635240" y="2542032"/>
            <a:ext cx="914400" cy="292608"/>
          </a:xfrm>
          <a:prstGeom prst="roundRect">
            <a:avLst>
              <a:gd name="adj" fmla="val 25000"/>
            </a:avLst>
          </a:prstGeom>
          <a:solidFill>
            <a:srgbClr val="90E0EF">
              <a:alpha val="6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7635240" y="254203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30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846320" y="28529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边缘填充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846320" y="31272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保持特征图尺寸不变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3749040"/>
            <a:ext cx="5029200" cy="1051560"/>
          </a:xfrm>
          <a:prstGeom prst="roundRect">
            <a:avLst>
              <a:gd name="adj" fmla="val 8696"/>
            </a:avLst>
          </a:prstGeom>
          <a:solidFill>
            <a:srgbClr val="03045E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" y="3840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尺寸变化公式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0080" y="413308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H_out = ⌊(H_in + 2×p - k) / s⌋ + 1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40080" y="446227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p=1, k=3, s=1  →  H_out = H_in  （尺寸不变）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669280" y="3749040"/>
            <a:ext cx="30175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6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806440" y="38404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806440" y="4160520"/>
            <a:ext cx="822960" cy="502920"/>
          </a:xfrm>
          <a:prstGeom prst="roundRect">
            <a:avLst>
              <a:gd name="adj" fmla="val 12727"/>
            </a:avLst>
          </a:prstGeom>
          <a:solidFill>
            <a:srgbClr val="0077B6"/>
          </a:solidFill>
          <a:ln/>
        </p:spPr>
      </p:sp>
      <p:sp>
        <p:nvSpPr>
          <p:cNvPr id="40" name="Text 38"/>
          <p:cNvSpPr/>
          <p:nvPr/>
        </p:nvSpPr>
        <p:spPr>
          <a:xfrm>
            <a:off x="5806440" y="416052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28×28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583680" y="4160520"/>
            <a:ext cx="228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766560" y="4160520"/>
            <a:ext cx="822960" cy="502920"/>
          </a:xfrm>
          <a:prstGeom prst="roundRect">
            <a:avLst>
              <a:gd name="adj" fmla="val 12727"/>
            </a:avLst>
          </a:prstGeom>
          <a:solidFill>
            <a:srgbClr val="00B4D8"/>
          </a:solidFill>
          <a:ln/>
        </p:spPr>
      </p:sp>
      <p:sp>
        <p:nvSpPr>
          <p:cNvPr id="43" name="Text 41"/>
          <p:cNvSpPr/>
          <p:nvPr/>
        </p:nvSpPr>
        <p:spPr>
          <a:xfrm>
            <a:off x="6766560" y="416052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543800" y="4160520"/>
            <a:ext cx="228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726680" y="4160520"/>
            <a:ext cx="822960" cy="502920"/>
          </a:xfrm>
          <a:prstGeom prst="roundRect">
            <a:avLst>
              <a:gd name="adj" fmla="val 12727"/>
            </a:avLst>
          </a:prstGeom>
          <a:solidFill>
            <a:srgbClr val="03045E"/>
          </a:solidFill>
          <a:ln/>
        </p:spPr>
      </p:sp>
      <p:sp>
        <p:nvSpPr>
          <p:cNvPr id="46" name="Text 44"/>
          <p:cNvSpPr/>
          <p:nvPr/>
        </p:nvSpPr>
        <p:spPr>
          <a:xfrm>
            <a:off x="7726680" y="416052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28×28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48" name="Text 4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激活函数 &amp; 池化层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09728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43000"/>
            <a:ext cx="3977640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43000"/>
            <a:ext cx="3977640" cy="50292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430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ReLU  激活函数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1783080"/>
            <a:ext cx="3611880" cy="502920"/>
          </a:xfrm>
          <a:prstGeom prst="roundRect">
            <a:avLst>
              <a:gd name="adj" fmla="val 14545"/>
            </a:avLst>
          </a:prstGeom>
          <a:solidFill>
            <a:srgbClr val="1E1E1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78308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f(x) = max(0, x)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85800" y="2459736"/>
            <a:ext cx="256032" cy="25603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45973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51560" y="242316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引入非线性变换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2843784"/>
            <a:ext cx="256032" cy="25603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84378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51560" y="280720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 ReLU：多层神经网络等价于一层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3227832"/>
            <a:ext cx="256032" cy="25603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22783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51560" y="319125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Dead ReLU：梯度为0的神经元永不更新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09160" y="1143000"/>
            <a:ext cx="3977640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1143000"/>
            <a:ext cx="3977640" cy="502920"/>
          </a:xfrm>
          <a:prstGeom prst="rect">
            <a:avLst/>
          </a:prstGeom>
          <a:solidFill>
            <a:srgbClr val="03045E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11430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MaxPool2d  池化层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892040" y="1783080"/>
            <a:ext cx="1691640" cy="502920"/>
          </a:xfrm>
          <a:prstGeom prst="roundRect">
            <a:avLst>
              <a:gd name="adj" fmla="val 14545"/>
            </a:avLst>
          </a:prstGeom>
          <a:solidFill>
            <a:srgbClr val="90E0EF">
              <a:alpha val="5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983480" y="17830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kernel_size: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669280" y="178308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30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2×2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720840" y="1783080"/>
            <a:ext cx="1691640" cy="502920"/>
          </a:xfrm>
          <a:prstGeom prst="roundRect">
            <a:avLst>
              <a:gd name="adj" fmla="val 14545"/>
            </a:avLst>
          </a:prstGeom>
          <a:solidFill>
            <a:srgbClr val="90E0EF">
              <a:alpha val="5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812280" y="17830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stride: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498080" y="178308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30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892040" y="242316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效果：尺寸减半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709160" y="2743200"/>
            <a:ext cx="685800" cy="548640"/>
          </a:xfrm>
          <a:prstGeom prst="roundRect">
            <a:avLst>
              <a:gd name="adj" fmla="val 11667"/>
            </a:avLst>
          </a:prstGeom>
          <a:solidFill>
            <a:srgbClr val="00B4D8"/>
          </a:solidFill>
          <a:ln/>
        </p:spPr>
      </p:sp>
      <p:sp>
        <p:nvSpPr>
          <p:cNvPr id="30" name="Text 28"/>
          <p:cNvSpPr/>
          <p:nvPr/>
        </p:nvSpPr>
        <p:spPr>
          <a:xfrm>
            <a:off x="4709160" y="2743200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28→14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0" y="274320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263640" y="2743200"/>
            <a:ext cx="685800" cy="548640"/>
          </a:xfrm>
          <a:prstGeom prst="roundRect">
            <a:avLst>
              <a:gd name="adj" fmla="val 11667"/>
            </a:avLst>
          </a:prstGeom>
          <a:solidFill>
            <a:srgbClr val="00B4D8"/>
          </a:solidFill>
          <a:ln/>
        </p:spPr>
      </p:sp>
      <p:sp>
        <p:nvSpPr>
          <p:cNvPr id="33" name="Text 31"/>
          <p:cNvSpPr/>
          <p:nvPr/>
        </p:nvSpPr>
        <p:spPr>
          <a:xfrm>
            <a:off x="6263640" y="2743200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14→7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040880" y="274320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7818120" y="2743200"/>
            <a:ext cx="685800" cy="548640"/>
          </a:xfrm>
          <a:prstGeom prst="roundRect">
            <a:avLst>
              <a:gd name="adj" fmla="val 11667"/>
            </a:avLst>
          </a:prstGeom>
          <a:solidFill>
            <a:srgbClr val="00B4D8"/>
          </a:solidFill>
          <a:ln/>
        </p:spPr>
      </p:sp>
      <p:sp>
        <p:nvSpPr>
          <p:cNvPr id="36" name="Text 34"/>
          <p:cNvSpPr/>
          <p:nvPr/>
        </p:nvSpPr>
        <p:spPr>
          <a:xfrm>
            <a:off x="7818120" y="2743200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7→3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892040" y="333756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无可学习参数，只做信息压缩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" y="374904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03045E"/>
          </a:solidFill>
          <a:ln/>
        </p:spPr>
      </p:sp>
      <p:sp>
        <p:nvSpPr>
          <p:cNvPr id="39" name="Text 37"/>
          <p:cNvSpPr/>
          <p:nvPr/>
        </p:nvSpPr>
        <p:spPr>
          <a:xfrm>
            <a:off x="640080" y="3840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组合模式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40080" y="4160520"/>
            <a:ext cx="914400" cy="365760"/>
          </a:xfrm>
          <a:prstGeom prst="roundRect">
            <a:avLst>
              <a:gd name="adj" fmla="val 17500"/>
            </a:avLst>
          </a:prstGeom>
          <a:solidFill>
            <a:srgbClr val="0077B6"/>
          </a:solidFill>
          <a:ln/>
        </p:spPr>
      </p:sp>
      <p:sp>
        <p:nvSpPr>
          <p:cNvPr id="41" name="Text 39"/>
          <p:cNvSpPr/>
          <p:nvPr/>
        </p:nvSpPr>
        <p:spPr>
          <a:xfrm>
            <a:off x="640080" y="4160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Conv2d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645920" y="41605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0E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1920240" y="4160520"/>
            <a:ext cx="914400" cy="365760"/>
          </a:xfrm>
          <a:prstGeom prst="roundRect">
            <a:avLst>
              <a:gd name="adj" fmla="val 17500"/>
            </a:avLst>
          </a:prstGeom>
          <a:solidFill>
            <a:srgbClr val="0077B6"/>
          </a:solidFill>
          <a:ln/>
        </p:spPr>
      </p:sp>
      <p:sp>
        <p:nvSpPr>
          <p:cNvPr id="44" name="Text 42"/>
          <p:cNvSpPr/>
          <p:nvPr/>
        </p:nvSpPr>
        <p:spPr>
          <a:xfrm>
            <a:off x="1920240" y="4160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ReLU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2926080" y="41605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0E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3200400" y="4160520"/>
            <a:ext cx="914400" cy="365760"/>
          </a:xfrm>
          <a:prstGeom prst="roundRect">
            <a:avLst>
              <a:gd name="adj" fmla="val 17500"/>
            </a:avLst>
          </a:prstGeom>
          <a:solidFill>
            <a:srgbClr val="0077B6"/>
          </a:solidFill>
          <a:ln/>
        </p:spPr>
      </p:sp>
      <p:sp>
        <p:nvSpPr>
          <p:cNvPr id="47" name="Text 45"/>
          <p:cNvSpPr/>
          <p:nvPr/>
        </p:nvSpPr>
        <p:spPr>
          <a:xfrm>
            <a:off x="3200400" y="4160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MaxPool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206240" y="4160520"/>
            <a:ext cx="914400" cy="365760"/>
          </a:xfrm>
          <a:prstGeom prst="roundRect">
            <a:avLst>
              <a:gd name="adj" fmla="val 17500"/>
            </a:avLst>
          </a:prstGeom>
          <a:solidFill>
            <a:srgbClr val="90E0EF"/>
          </a:solidFill>
          <a:ln/>
        </p:spPr>
      </p:sp>
      <p:sp>
        <p:nvSpPr>
          <p:cNvPr id="49" name="Text 47"/>
          <p:cNvSpPr/>
          <p:nvPr/>
        </p:nvSpPr>
        <p:spPr>
          <a:xfrm>
            <a:off x="4206240" y="4160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×N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394960" y="4160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不断重复：图片越来越小，通道越来越多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52" name="Text 5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CNN 完整前向传播路径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09728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43000"/>
            <a:ext cx="3657600" cy="477865"/>
          </a:xfrm>
          <a:prstGeom prst="roundRect">
            <a:avLst>
              <a:gd name="adj" fmla="val 19135"/>
            </a:avLst>
          </a:prstGeom>
          <a:solidFill>
            <a:srgbClr val="0077B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887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Input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49047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(1, 28, 28)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0" y="1418692"/>
            <a:ext cx="0" cy="275692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140031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0" y="1755648"/>
            <a:ext cx="4114800" cy="477865"/>
          </a:xfrm>
          <a:prstGeom prst="roundRect">
            <a:avLst>
              <a:gd name="adj" fmla="val 19135"/>
            </a:avLst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8013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Conv2d(1→32) + ReLU + MaxPool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0" y="210312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(32, 14, 14)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549640" y="1847088"/>
            <a:ext cx="347472" cy="347472"/>
          </a:xfrm>
          <a:prstGeom prst="ellipse">
            <a:avLst/>
          </a:prstGeom>
          <a:solidFill>
            <a:srgbClr val="03045E"/>
          </a:solidFill>
          <a:ln/>
        </p:spPr>
      </p:sp>
      <p:sp>
        <p:nvSpPr>
          <p:cNvPr id="14" name="Text 12"/>
          <p:cNvSpPr/>
          <p:nvPr/>
        </p:nvSpPr>
        <p:spPr>
          <a:xfrm>
            <a:off x="8549640" y="184708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286000" y="2031340"/>
            <a:ext cx="0" cy="275692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11680" y="20129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2368296"/>
            <a:ext cx="3657600" cy="477865"/>
          </a:xfrm>
          <a:prstGeom prst="roundRect">
            <a:avLst>
              <a:gd name="adj" fmla="val 19135"/>
            </a:avLst>
          </a:prstGeom>
          <a:solidFill>
            <a:srgbClr val="00B4D8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41401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Conv2d(32→64) + ReLU + MaxPool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271576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(64, 7, 7)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977640" y="2459736"/>
            <a:ext cx="347472" cy="347472"/>
          </a:xfrm>
          <a:prstGeom prst="ellipse">
            <a:avLst/>
          </a:prstGeom>
          <a:solidFill>
            <a:srgbClr val="03045E"/>
          </a:solidFill>
          <a:ln/>
        </p:spPr>
      </p:sp>
      <p:sp>
        <p:nvSpPr>
          <p:cNvPr id="21" name="Text 19"/>
          <p:cNvSpPr/>
          <p:nvPr/>
        </p:nvSpPr>
        <p:spPr>
          <a:xfrm>
            <a:off x="3977640" y="245973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58000" y="2643988"/>
            <a:ext cx="0" cy="275692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0" y="2625608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0" y="2980944"/>
            <a:ext cx="4114800" cy="477865"/>
          </a:xfrm>
          <a:prstGeom prst="roundRect">
            <a:avLst>
              <a:gd name="adj" fmla="val 19135"/>
            </a:avLst>
          </a:prstGeom>
          <a:solidFill>
            <a:srgbClr val="90E0EF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0" y="302666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Flatten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754880" y="332841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 × 7 × 7 = 3136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549640" y="3072384"/>
            <a:ext cx="347472" cy="347472"/>
          </a:xfrm>
          <a:prstGeom prst="ellipse">
            <a:avLst/>
          </a:prstGeom>
          <a:solidFill>
            <a:srgbClr val="03045E"/>
          </a:solidFill>
          <a:ln/>
        </p:spPr>
      </p:sp>
      <p:sp>
        <p:nvSpPr>
          <p:cNvPr id="28" name="Text 26"/>
          <p:cNvSpPr/>
          <p:nvPr/>
        </p:nvSpPr>
        <p:spPr>
          <a:xfrm>
            <a:off x="8549640" y="30723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286000" y="3256636"/>
            <a:ext cx="0" cy="275692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11680" y="3238256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57200" y="3593592"/>
            <a:ext cx="3657600" cy="477865"/>
          </a:xfrm>
          <a:prstGeom prst="roundRect">
            <a:avLst>
              <a:gd name="adj" fmla="val 19135"/>
            </a:avLst>
          </a:prstGeom>
          <a:solidFill>
            <a:srgbClr val="0077B6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36393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Linear(3136→128) + ReLU + Dropout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40080" y="394106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128 维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977640" y="3685032"/>
            <a:ext cx="347472" cy="347472"/>
          </a:xfrm>
          <a:prstGeom prst="ellipse">
            <a:avLst/>
          </a:prstGeom>
          <a:solidFill>
            <a:srgbClr val="03045E"/>
          </a:solidFill>
          <a:ln/>
        </p:spPr>
      </p:sp>
      <p:sp>
        <p:nvSpPr>
          <p:cNvPr id="35" name="Text 33"/>
          <p:cNvSpPr/>
          <p:nvPr/>
        </p:nvSpPr>
        <p:spPr>
          <a:xfrm>
            <a:off x="3977640" y="368503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858000" y="3869284"/>
            <a:ext cx="0" cy="275692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0" y="3850904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4572000" y="4206240"/>
            <a:ext cx="4114800" cy="477865"/>
          </a:xfrm>
          <a:prstGeom prst="roundRect">
            <a:avLst>
              <a:gd name="adj" fmla="val 19135"/>
            </a:avLst>
          </a:prstGeom>
          <a:solidFill>
            <a:srgbClr val="03045E"/>
          </a:solidFill>
          <a:ln/>
        </p:spPr>
      </p:sp>
      <p:sp>
        <p:nvSpPr>
          <p:cNvPr id="39" name="Text 37"/>
          <p:cNvSpPr/>
          <p:nvPr/>
        </p:nvSpPr>
        <p:spPr>
          <a:xfrm>
            <a:off x="4754880" y="42519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Linear(128→10)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754880" y="455371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类别输出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549640" y="4297680"/>
            <a:ext cx="347472" cy="347472"/>
          </a:xfrm>
          <a:prstGeom prst="ellipse">
            <a:avLst/>
          </a:prstGeom>
          <a:solidFill>
            <a:srgbClr val="03045E"/>
          </a:solidFill>
          <a:ln/>
        </p:spPr>
      </p:sp>
      <p:sp>
        <p:nvSpPr>
          <p:cNvPr id="42" name="Text 40"/>
          <p:cNvSpPr/>
          <p:nvPr/>
        </p:nvSpPr>
        <p:spPr>
          <a:xfrm>
            <a:off x="8549640" y="42976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572000" y="4343400"/>
            <a:ext cx="2011680" cy="411480"/>
          </a:xfrm>
          <a:prstGeom prst="roundRect">
            <a:avLst>
              <a:gd name="adj" fmla="val 22222"/>
            </a:avLst>
          </a:prstGeom>
          <a:solidFill>
            <a:srgbClr val="03045E"/>
          </a:solidFill>
          <a:ln/>
        </p:spPr>
      </p:sp>
      <p:sp>
        <p:nvSpPr>
          <p:cNvPr id="44" name="Text 42"/>
          <p:cNvSpPr/>
          <p:nvPr/>
        </p:nvSpPr>
        <p:spPr>
          <a:xfrm>
            <a:off x="4572000" y="43434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10 类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46" name="Text 4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Dropout 防过拟合 &amp; 准确率评估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09728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397764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3977640" cy="475488"/>
          </a:xfrm>
          <a:prstGeom prst="rect">
            <a:avLst/>
          </a:prstGeom>
          <a:solidFill>
            <a:srgbClr val="03045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9728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Dropout 机制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914400" cy="320040"/>
          </a:xfrm>
          <a:prstGeom prst="roundRect">
            <a:avLst>
              <a:gd name="adj" fmla="val 20000"/>
            </a:avLst>
          </a:prstGeom>
          <a:solidFill>
            <a:srgbClr val="90E0EF">
              <a:alpha val="5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6916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训练时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00200" y="16916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随机丢弃 25% 的神经元（p=0.25）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2286000"/>
            <a:ext cx="914400" cy="320040"/>
          </a:xfrm>
          <a:prstGeom prst="roundRect">
            <a:avLst>
              <a:gd name="adj" fmla="val 20000"/>
            </a:avLst>
          </a:prstGeom>
          <a:solidFill>
            <a:srgbClr val="90E0EF">
              <a:alpha val="5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2860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评估时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600200" y="22860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所有神经元参与，不丢弃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" y="2880360"/>
            <a:ext cx="914400" cy="320040"/>
          </a:xfrm>
          <a:prstGeom prst="roundRect">
            <a:avLst>
              <a:gd name="adj" fmla="val 20000"/>
            </a:avLst>
          </a:prstGeom>
          <a:solidFill>
            <a:srgbClr val="90E0EF">
              <a:alpha val="5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8803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作用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600200" y="28803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减少神经元共适应，防止过拟合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4360" y="3291840"/>
            <a:ext cx="3703320" cy="228600"/>
          </a:xfrm>
          <a:prstGeom prst="roundRect">
            <a:avLst>
              <a:gd name="adj" fmla="val 24000"/>
            </a:avLst>
          </a:prstGeom>
          <a:solidFill>
            <a:srgbClr val="1E1E1E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29184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Dropout(p=0.25)  # 25% 神经元随机失活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1097280"/>
            <a:ext cx="397764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1097280"/>
            <a:ext cx="3977640" cy="475488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109728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准确率评估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4846320" y="1691640"/>
            <a:ext cx="3703320" cy="457200"/>
          </a:xfrm>
          <a:prstGeom prst="roundRect">
            <a:avLst>
              <a:gd name="adj" fmla="val 16000"/>
            </a:avLst>
          </a:prstGeom>
          <a:solidFill>
            <a:srgbClr val="1E1E1E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0" y="169164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output.argmax(1)  # 取最大值的索引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92040" y="22860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训练准确率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583680" y="2286000"/>
            <a:ext cx="1371600" cy="347472"/>
          </a:xfrm>
          <a:prstGeom prst="roundRect">
            <a:avLst>
              <a:gd name="adj" fmla="val 21053"/>
            </a:avLst>
          </a:prstGeom>
          <a:solidFill>
            <a:srgbClr val="00B4D8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0" y="228600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98.5%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892040" y="29260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测试准确率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583680" y="2926080"/>
            <a:ext cx="1371600" cy="347472"/>
          </a:xfrm>
          <a:prstGeom prst="roundRect">
            <a:avLst>
              <a:gd name="adj" fmla="val 21053"/>
            </a:avLst>
          </a:prstGeom>
          <a:solidFill>
            <a:srgbClr val="03045E"/>
          </a:solidFill>
          <a:ln/>
        </p:spPr>
      </p:sp>
      <p:sp>
        <p:nvSpPr>
          <p:cNvPr id="29" name="Text 27"/>
          <p:cNvSpPr/>
          <p:nvPr/>
        </p:nvSpPr>
        <p:spPr>
          <a:xfrm>
            <a:off x="6583680" y="292608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98.2%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4892040" y="3401568"/>
            <a:ext cx="3657600" cy="18288"/>
          </a:xfrm>
          <a:prstGeom prst="rect">
            <a:avLst/>
          </a:prstGeom>
          <a:solidFill>
            <a:srgbClr val="90E0EF"/>
          </a:solidFill>
          <a:ln/>
        </p:spPr>
      </p:sp>
      <p:sp>
        <p:nvSpPr>
          <p:cNvPr id="31" name="Text 29"/>
          <p:cNvSpPr/>
          <p:nvPr/>
        </p:nvSpPr>
        <p:spPr>
          <a:xfrm>
            <a:off x="4892040" y="34564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Gap 过大 = 过拟合</a:t>
            </a:r>
            <a:pPr algn="l" indent="0" marL="0">
              <a:buNone/>
            </a:pPr>
            <a:r>
              <a:rPr lang="en-US" sz="11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需更多数据或正则化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374904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03045E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3840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最佳模型保存策略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40080" y="4206240"/>
            <a:ext cx="3474720" cy="347472"/>
          </a:xfrm>
          <a:prstGeom prst="roundRect">
            <a:avLst>
              <a:gd name="adj" fmla="val 21053"/>
            </a:avLst>
          </a:prstGeom>
          <a:solidFill>
            <a:srgbClr val="0077B6"/>
          </a:solidFill>
          <a:ln/>
        </p:spPr>
      </p:sp>
      <p:sp>
        <p:nvSpPr>
          <p:cNvPr id="35" name="Text 33"/>
          <p:cNvSpPr/>
          <p:nvPr/>
        </p:nvSpPr>
        <p:spPr>
          <a:xfrm>
            <a:off x="777240" y="42062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test_acc &gt; best_acc: save_checkpoint()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297680" y="42062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只在测试准确率更高时保存，避免过拟合记忆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8" name="Text 3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关键超参数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09728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397764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64008" cy="126187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070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304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batch_size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0" y="1207008"/>
            <a:ext cx="1508760" cy="320040"/>
          </a:xfrm>
          <a:prstGeom prst="roundRect">
            <a:avLst>
              <a:gd name="adj" fmla="val 22857"/>
            </a:avLst>
          </a:prstGeom>
          <a:solidFill>
            <a:srgbClr val="90E0EF">
              <a:alpha val="6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2743200" y="1207008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30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15727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每批 64 张图片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19019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平衡显存占用与梯度稳定性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1097280"/>
            <a:ext cx="397764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097280"/>
            <a:ext cx="64008" cy="126187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12070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304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epochs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995160" y="1207008"/>
            <a:ext cx="1508760" cy="320040"/>
          </a:xfrm>
          <a:prstGeom prst="roundRect">
            <a:avLst>
              <a:gd name="adj" fmla="val 22857"/>
            </a:avLst>
          </a:prstGeom>
          <a:solidFill>
            <a:srgbClr val="90E0EF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995160" y="1207008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30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92040" y="15727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轮完整训练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92040" y="19019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遍历整个训练集 5 次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514600"/>
            <a:ext cx="397764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514600"/>
            <a:ext cx="64008" cy="126187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262432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304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learning_rate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743200" y="2624328"/>
            <a:ext cx="1508760" cy="320040"/>
          </a:xfrm>
          <a:prstGeom prst="roundRect">
            <a:avLst>
              <a:gd name="adj" fmla="val 22857"/>
            </a:avLst>
          </a:prstGeom>
          <a:solidFill>
            <a:srgbClr val="90E0EF">
              <a:alpha val="6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0" y="2624328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30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0.001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29900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Adam 标准学习率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" y="33192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常用范围 1e-3 ~ 1e-4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09160" y="2514600"/>
            <a:ext cx="397764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2514600"/>
            <a:ext cx="64008" cy="126187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8" name="Text 26"/>
          <p:cNvSpPr/>
          <p:nvPr/>
        </p:nvSpPr>
        <p:spPr>
          <a:xfrm>
            <a:off x="4892040" y="262432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304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 Function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995160" y="2624328"/>
            <a:ext cx="1508760" cy="320040"/>
          </a:xfrm>
          <a:prstGeom prst="roundRect">
            <a:avLst>
              <a:gd name="adj" fmla="val 22857"/>
            </a:avLst>
          </a:prstGeom>
          <a:solidFill>
            <a:srgbClr val="90E0EF">
              <a:alpha val="6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995160" y="2624328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30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CrossEntropyLoss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892040" y="29900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多分类标准损失函数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892040" y="33192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Softmax + 负对数似然联合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40050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典型训练输出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57200" y="4343400"/>
            <a:ext cx="8229600" cy="621792"/>
          </a:xfrm>
          <a:prstGeom prst="roundRect">
            <a:avLst>
              <a:gd name="adj" fmla="val 14706"/>
            </a:avLst>
          </a:prstGeom>
          <a:solidFill>
            <a:srgbClr val="1E1E1E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" y="4370832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Epoch 1/5 - Loss: 0.4231, Train Acc: 87.2%, Test Acc: 88.1%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0080" y="4553712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Epoch 2/5 - Loss: 0.1187, Train Acc: 96.5%, Test Acc: 96.2%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0080" y="4736592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Epoch 3/5 - Loss: 0.0712, Train Acc: 98.1%, Test Acc: 97.9%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9" name="Text 3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代码实战：SimpleCNN 模型定义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09728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78992"/>
            <a:ext cx="3977640" cy="2651760"/>
          </a:xfrm>
          <a:prstGeom prst="roundRect">
            <a:avLst>
              <a:gd name="adj" fmla="val 3448"/>
            </a:avLst>
          </a:prstGeom>
          <a:solidFill>
            <a:srgbClr val="1E1E1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1556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0" y="111556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SimpleCNN(nn.Module):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29844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14400" y="129844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__init__(self):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14813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14400" y="148132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super().__init__()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166420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14400" y="166420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self.conv1 = nn.Conv2d(1, 32, 3, padding=1)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184708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14400" y="184708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self.conv2 = nn.Conv2d(32, 64, 3, padding=1)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8640" y="202996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14400" y="202996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self.fc1 = nn.Linear(64*7*7, 128)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8640" y="221284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14400" y="221284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self.fc2 = nn.Linear(128, 10)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8640" y="23957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14400" y="239572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self.dropout = nn.Dropout(0.25)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48640" y="257860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14400" y="257860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self.relu = nn.ReLU()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" y="276148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14400" y="276148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self.maxpool = nn.MaxPool2d(2)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" y="294436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14400" y="294436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self.flatten = nn.Flatten()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8640" y="312724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14400" y="312724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self.relu = nn.ReLU()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48640" y="33101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14400" y="331012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self.dropout = nn.Dropout(0.25)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1078992"/>
            <a:ext cx="1280160" cy="256032"/>
          </a:xfrm>
          <a:prstGeom prst="roundRect">
            <a:avLst>
              <a:gd name="adj" fmla="val 21429"/>
            </a:avLst>
          </a:prstGeom>
          <a:solidFill>
            <a:srgbClr val="0077B6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107899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__init__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09160" y="1078992"/>
            <a:ext cx="3977640" cy="2651760"/>
          </a:xfrm>
          <a:prstGeom prst="roundRect">
            <a:avLst>
              <a:gd name="adj" fmla="val 3448"/>
            </a:avLst>
          </a:prstGeom>
          <a:solidFill>
            <a:srgbClr val="1E1E1E"/>
          </a:solidFill>
          <a:ln/>
        </p:spPr>
      </p:sp>
      <p:sp>
        <p:nvSpPr>
          <p:cNvPr id="35" name="Text 33"/>
          <p:cNvSpPr/>
          <p:nvPr/>
        </p:nvSpPr>
        <p:spPr>
          <a:xfrm>
            <a:off x="4800600" y="111556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166360" y="111556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forward(self, x):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00600" y="129844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166360" y="129844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Conv Block 1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800600" y="14813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166360" y="148132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x = self.maxpool(self.relu(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800600" y="166420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166360" y="166420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self.conv1(x)))   # 1→32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800600" y="184708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166360" y="184708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x = self.maxpool(self.relu(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800600" y="202996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166360" y="202996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self.conv2(x)))   # 32→64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800600" y="221284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166360" y="221284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Classification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800600" y="23957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166360" y="239572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x = self.flatten(x)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800600" y="257860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166360" y="257860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x = self.relu(self.fc1(x))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800600" y="276148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166360" y="276148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x = self.dropout(x)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800600" y="294436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5166360" y="294436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x = self.fc2(x)        # →10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709160" y="1078992"/>
            <a:ext cx="1280160" cy="256032"/>
          </a:xfrm>
          <a:prstGeom prst="roundRect">
            <a:avLst>
              <a:gd name="adj" fmla="val 21429"/>
            </a:avLst>
          </a:prstGeom>
          <a:solidFill>
            <a:srgbClr val="00B4D8"/>
          </a:solidFill>
          <a:ln/>
        </p:spPr>
      </p:sp>
      <p:sp>
        <p:nvSpPr>
          <p:cNvPr id="58" name="Text 56"/>
          <p:cNvSpPr/>
          <p:nvPr/>
        </p:nvSpPr>
        <p:spPr>
          <a:xfrm>
            <a:off x="4709160" y="107899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forward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57200" y="3822192"/>
            <a:ext cx="8229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594360" y="3913632"/>
            <a:ext cx="1645920" cy="256032"/>
          </a:xfrm>
          <a:prstGeom prst="roundRect">
            <a:avLst>
              <a:gd name="adj" fmla="val 25000"/>
            </a:avLst>
          </a:prstGeom>
          <a:solidFill>
            <a:srgbClr val="03045E"/>
          </a:solidFill>
          <a:ln/>
        </p:spPr>
      </p:sp>
      <p:sp>
        <p:nvSpPr>
          <p:cNvPr id="61" name="Text 59"/>
          <p:cNvSpPr/>
          <p:nvPr/>
        </p:nvSpPr>
        <p:spPr>
          <a:xfrm>
            <a:off x="594360" y="391363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模型结构打印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640080" y="4206240"/>
            <a:ext cx="5303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304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SimpleCNN(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640080" y="4334256"/>
            <a:ext cx="5303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304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(conv1): Conv2d(1, 32, kernel_size=(3, 3), stride=(1, 1), padding=(1, 1))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640080" y="4462272"/>
            <a:ext cx="5303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304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(conv2): Conv2d(32, 64, kernel_size=(3, 3), stride=(1, 1), padding=(1, 1))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640080" y="4590288"/>
            <a:ext cx="5303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304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(fc1): Linear(in_features=3136, out_features=128, bias=True)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640080" y="4718304"/>
            <a:ext cx="5303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304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(fc2): Linear(in_features=128, out_features=10, bias=True)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640080" y="4846320"/>
            <a:ext cx="5303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304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6126480" y="3977640"/>
            <a:ext cx="2377440" cy="868680"/>
          </a:xfrm>
          <a:prstGeom prst="roundRect">
            <a:avLst>
              <a:gd name="adj" fmla="val 10526"/>
            </a:avLst>
          </a:prstGeom>
          <a:solidFill>
            <a:srgbClr val="90E0EF">
              <a:alpha val="60000"/>
            </a:srgbClr>
          </a:solidFill>
          <a:ln/>
        </p:spPr>
      </p:sp>
      <p:sp>
        <p:nvSpPr>
          <p:cNvPr id="69" name="Text 67"/>
          <p:cNvSpPr/>
          <p:nvPr/>
        </p:nvSpPr>
        <p:spPr>
          <a:xfrm>
            <a:off x="6217920" y="402336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总参数量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6217920" y="427939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30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~310万</a:t>
            </a:r>
            <a:endParaRPr lang="en-US" sz="2800" dirty="0"/>
          </a:p>
        </p:txBody>
      </p:sp>
      <p:sp>
        <p:nvSpPr>
          <p:cNvPr id="71" name="Shape 6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72" name="Text 7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 &amp; 下节预告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09728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789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核心要点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292608" cy="29260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544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41248" y="1508760"/>
            <a:ext cx="4507992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60120" y="150876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Conv2d 提取空间特征，通道数代表特征种类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292608" cy="29260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1031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41248" y="2057400"/>
            <a:ext cx="4507992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60120" y="205740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ReLU 引入非线性，MaxPool 压缩空间尺寸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292608" cy="29260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6517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41248" y="2606040"/>
            <a:ext cx="4507992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60120" y="260604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Dropout(p=0.25) 有效防止过拟合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200400"/>
            <a:ext cx="292608" cy="29260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2004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41248" y="3154680"/>
            <a:ext cx="4507992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60120" y="315468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准确率 Gap 是判断过拟合的关键指标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749040"/>
            <a:ext cx="292608" cy="29260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7490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41248" y="3703320"/>
            <a:ext cx="4507992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60120" y="370332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最佳模型保存策略提升泛化能力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40680" y="1078992"/>
            <a:ext cx="3246120" cy="3246120"/>
          </a:xfrm>
          <a:prstGeom prst="roundRect">
            <a:avLst>
              <a:gd name="adj" fmla="val 3380"/>
            </a:avLst>
          </a:prstGeom>
          <a:solidFill>
            <a:srgbClr val="03045E"/>
          </a:solidFill>
          <a:ln/>
        </p:spPr>
      </p:sp>
      <p:sp>
        <p:nvSpPr>
          <p:cNvPr id="27" name="Shape 25"/>
          <p:cNvSpPr/>
          <p:nvPr/>
        </p:nvSpPr>
        <p:spPr>
          <a:xfrm>
            <a:off x="7132320" y="914400"/>
            <a:ext cx="1645920" cy="1645920"/>
          </a:xfrm>
          <a:prstGeom prst="ellipse">
            <a:avLst/>
          </a:prstGeom>
          <a:solidFill>
            <a:srgbClr val="0077B6">
              <a:alpha val="3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5623560" y="12344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下节预告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623560" y="1627632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课程 2.1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623560" y="201168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通用图像分类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5623560" y="2578608"/>
            <a:ext cx="2286000" cy="274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2" name="Shape 30"/>
          <p:cNvSpPr/>
          <p:nvPr/>
        </p:nvSpPr>
        <p:spPr>
          <a:xfrm>
            <a:off x="5623560" y="2724912"/>
            <a:ext cx="164592" cy="16459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3" name="Text 31"/>
          <p:cNvSpPr/>
          <p:nvPr/>
        </p:nvSpPr>
        <p:spPr>
          <a:xfrm>
            <a:off x="5870448" y="267919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迁移学习 (Transfer Learning)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623560" y="3127248"/>
            <a:ext cx="164592" cy="16459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5" name="Text 33"/>
          <p:cNvSpPr/>
          <p:nvPr/>
        </p:nvSpPr>
        <p:spPr>
          <a:xfrm>
            <a:off x="5870448" y="308152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ResNet 深度残差网络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623560" y="3529584"/>
            <a:ext cx="164592" cy="16459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7" name="Text 35"/>
          <p:cNvSpPr/>
          <p:nvPr/>
        </p:nvSpPr>
        <p:spPr>
          <a:xfrm>
            <a:off x="5870448" y="348386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ImageNet 预训练模型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623560" y="3931920"/>
            <a:ext cx="164592" cy="16459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9" name="Text 37"/>
          <p:cNvSpPr/>
          <p:nvPr/>
        </p:nvSpPr>
        <p:spPr>
          <a:xfrm>
            <a:off x="5870448" y="38862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微调策略 (Fine-tuning)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440680" y="4416552"/>
            <a:ext cx="3246120" cy="457200"/>
          </a:xfrm>
          <a:prstGeom prst="roundRect">
            <a:avLst>
              <a:gd name="adj" fmla="val 20000"/>
            </a:avLst>
          </a:prstGeom>
          <a:solidFill>
            <a:srgbClr val="00B4D8"/>
          </a:solidFill>
          <a:ln/>
        </p:spPr>
      </p:sp>
      <p:sp>
        <p:nvSpPr>
          <p:cNvPr id="41" name="Text 39"/>
          <p:cNvSpPr/>
          <p:nvPr/>
        </p:nvSpPr>
        <p:spPr>
          <a:xfrm>
            <a:off x="5440680" y="441655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准备好挑战更复杂的任务了吗？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43" name="Text 4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课程 1.4 | MNIST 手写数字分类 (CNN)</dc:title>
  <dc:subject>PptxGenJS Presentation</dc:subject>
  <dc:creator>Harry AI</dc:creator>
  <cp:lastModifiedBy>Harry AI</cp:lastModifiedBy>
  <cp:revision>1</cp:revision>
  <dcterms:created xsi:type="dcterms:W3CDTF">2026-05-20T03:45:59Z</dcterms:created>
  <dcterms:modified xsi:type="dcterms:W3CDTF">2026-05-20T03:45:59Z</dcterms:modified>
</cp:coreProperties>
</file>