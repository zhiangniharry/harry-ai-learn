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77B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914400"/>
            <a:ext cx="2560320" cy="256032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077B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2560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645920" cy="320040"/>
          </a:xfrm>
          <a:prstGeom prst="roundRect">
            <a:avLst>
              <a:gd name="adj" fmla="val 42857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基础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 1.3 | 训练循环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/ Backward / Optimizer 完整流程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3337560"/>
            <a:ext cx="45720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核心 | 深度学习训练三要素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课程导航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1168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35608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35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前向传播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737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Propagation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435608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435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2356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23560" y="1737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2624328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624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2926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Propagation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2624328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2624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356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2926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" y="3813048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3813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3749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完整循环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2588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Loop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6118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19472" y="3813048"/>
            <a:ext cx="548640" cy="54864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3813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23560" y="3749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模型保存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62356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&amp; Load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1168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91440" cy="8412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88720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2801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理解前向传播（Forward Propagation）的完整计算过程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掌握数据如何在神经网络中逐层流动，最终得到预测输出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8229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39696"/>
            <a:ext cx="91440" cy="8412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39696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2231136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掌握损失函数的选型原则：MSELoss vs CrossEntropyLoss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59689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回归任务用 MSE，分类任务用 CrossEntropy，切勿混用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8229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90672"/>
            <a:ext cx="91440" cy="8412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90672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31821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深入理解反向传播（Back Propagation）的梯度计算原理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54787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理解链式法则，理解 optimizer.zero_grad() 的必要性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41648"/>
            <a:ext cx="8229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41648"/>
            <a:ext cx="91440" cy="8412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041648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371600" y="413308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能够独立编写完整的 5 步训练循环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4988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 → 损失 → 清零 → 反向 → 更新，独立完成端到端训练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前向传播（Forward Propagation）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神经网络计算流程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58368" cy="457200"/>
          </a:xfrm>
          <a:prstGeom prst="roundRect">
            <a:avLst>
              <a:gd name="adj" fmla="val 16000"/>
            </a:avLst>
          </a:prstGeom>
          <a:solidFill>
            <a:srgbClr val="0304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" y="150876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25880" y="1508760"/>
            <a:ext cx="658368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150876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Conv/Linear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84248" y="150876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94560" y="1508760"/>
            <a:ext cx="658368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50876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150876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063240" y="1508760"/>
            <a:ext cx="658368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063240" y="150876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21608" y="150876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31920" y="1508760"/>
            <a:ext cx="658368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150876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90288" y="150876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00600" y="1508760"/>
            <a:ext cx="658368" cy="457200"/>
          </a:xfrm>
          <a:prstGeom prst="roundRect">
            <a:avLst>
              <a:gd name="adj" fmla="val 16000"/>
            </a:avLst>
          </a:prstGeom>
          <a:solidFill>
            <a:srgbClr val="0077B6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50876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58968" y="150876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9280" y="1508760"/>
            <a:ext cx="658368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150876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103120"/>
            <a:ext cx="4663440" cy="365760"/>
          </a:xfrm>
          <a:prstGeom prst="roundRect">
            <a:avLst>
              <a:gd name="adj" fmla="val 15000"/>
            </a:avLst>
          </a:prstGeom>
          <a:solidFill>
            <a:srgbClr val="90E0EF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103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数据从输入层 → 隐藏层 → 输出层依次计算，最终得到预测值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0" y="1051560"/>
            <a:ext cx="3383280" cy="34747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94960" y="1399032"/>
            <a:ext cx="3383280" cy="17373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2" name="Text 30"/>
          <p:cNvSpPr/>
          <p:nvPr/>
        </p:nvSpPr>
        <p:spPr>
          <a:xfrm>
            <a:off x="5532120" y="1481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model.train()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1481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启用Dropout/BatchNorm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32120" y="17373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model(batch_x) 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32120" y="19933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19933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前向计算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32120" y="22494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criterion(  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32120" y="25054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output, batch_y) 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32120" y="27614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32120" y="27614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计算损失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2697480"/>
            <a:ext cx="8321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2697480"/>
            <a:ext cx="91440" cy="16916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model.train() vs model.eval()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" y="3246120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3246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234440" y="3246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Dropout 随机丢弃神经元，BatchNorm 使用 batch 统计量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63440" y="3246120"/>
            <a:ext cx="347472" cy="347472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3246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20640" y="3246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Dropout 关闭，BatchNorm 使用全局统计量（训练均值）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77240" y="374904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90E0EF">
              <a:alpha val="4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37490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重要：验证 / 测试前务必切换为 model.eval()，否则结果不可靠！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3" name="Text 5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损失函数（Loss Function）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977640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MSELoss（回归）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90E0EF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373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(1/n) × Σ(ŷ - y)²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4231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连续值预测（温度、价格等）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9718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分类时梯度消失，收敛慢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使用注意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520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仅用于回归任务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45920" y="379476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48840" y="3794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分类任务绝对不要用 MSE！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097280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97280"/>
            <a:ext cx="3977640" cy="50292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09728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CrossEntropyLoss（分类）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892040" y="1737360"/>
            <a:ext cx="1463040" cy="365760"/>
          </a:xfrm>
          <a:prstGeom prst="roundRect">
            <a:avLst>
              <a:gd name="adj" fmla="val 37500"/>
            </a:avLst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内部自动做 Softmax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无需手动 + softmax()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240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多分类问题（MNIST 10类）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7889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梯度稳定，收敛快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337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使用注意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softmax，直接输入 logits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97880" y="3794760"/>
            <a:ext cx="411480" cy="41148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33" name="Text 31"/>
          <p:cNvSpPr/>
          <p:nvPr/>
        </p:nvSpPr>
        <p:spPr>
          <a:xfrm>
            <a:off x="58978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0" y="3794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分类任务推荐使用！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反向传播（Back Propagation）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2004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链式法则 / 计算图反向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0304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1737360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805940"/>
            <a:ext cx="173736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计算损失值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50876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06040" y="150876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0077B6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508760"/>
            <a:ext cx="1737360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1805940"/>
            <a:ext cx="173736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计算每个参数梯度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150876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08760"/>
            <a:ext cx="1737360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optimizer.step()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1805940"/>
            <a:ext cx="1737360" cy="267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更新模型参数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286000"/>
            <a:ext cx="73152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2478024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23591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6700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调用链式法则，自动计算所有参数的梯度（∂L/∂w），存储在 tensor.grad 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127248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127248"/>
            <a:ext cx="73152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319272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319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3200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optimizer.zero_grad()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351129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每次迭代前必须清零梯度！否则梯度会累加，导致参数更新错误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68496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968496"/>
            <a:ext cx="73152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416052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3000" y="40416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动态计算图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" y="435254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采用 define-by-run 机制：前向计算时动态构建计算图，反向传播时自动求导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89320" y="228600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03045E"/>
          </a:solidFill>
          <a:ln/>
        </p:spPr>
      </p:sp>
      <p:sp>
        <p:nvSpPr>
          <p:cNvPr id="37" name="Text 35"/>
          <p:cNvSpPr/>
          <p:nvPr/>
        </p:nvSpPr>
        <p:spPr>
          <a:xfrm>
            <a:off x="5989320" y="2377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SGD 更新公式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126480" y="283464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0077B6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834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 - lr × ∇L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217920" y="36118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66560" y="3611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模型参数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39593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3959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学习率（learning rate）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0" y="430682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66560" y="43068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损失函数梯度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优化器（Optimizer）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7432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9776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977640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SGD（随机梯度下降）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90E0EF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373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 - lr × ∇L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468880"/>
            <a:ext cx="347472" cy="347472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简单，稳定，可解释性强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926080"/>
            <a:ext cx="347472" cy="34747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26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29260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收敛慢，容易困在局部最优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3611880" cy="411480"/>
          </a:xfrm>
          <a:prstGeom prst="roundRect">
            <a:avLst>
              <a:gd name="adj" fmla="val 17778"/>
            </a:avLst>
          </a:prstGeom>
          <a:solidFill>
            <a:srgbClr val="90E0EF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290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适合：大数据集，简单模型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典型学习率: lr = 0.01 ~ 0.1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097280"/>
            <a:ext cx="39776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97280"/>
            <a:ext cx="3977640" cy="50292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1161288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1612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109728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Adam（自适应矩估计）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892040" y="173736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90E0EF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7373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自适应学习率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40" y="2359152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(一阶动量 mt + 二阶动量 vt 估计)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743200"/>
            <a:ext cx="347472" cy="347472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743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94960" y="27432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收敛快，效果好，对初始学习率不敏感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200400"/>
            <a:ext cx="347472" cy="34747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200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32004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显存占用稍高，参数略多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92040" y="3657600"/>
            <a:ext cx="3611880" cy="411480"/>
          </a:xfrm>
          <a:prstGeom prst="roundRect">
            <a:avLst>
              <a:gd name="adj" fmla="val 17778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657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适合：几乎所有深度学习任务（默认选择）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41605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典型学习率: lr = 0.001（推荐）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完整训练循环（5步）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7432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572768" cy="30175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325880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325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前向传播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20700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4231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数据通过模型生成预测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1389888" cy="6583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971800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model(batch_x)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30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" y="4041648"/>
            <a:ext cx="1572768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984248" y="1188720"/>
            <a:ext cx="1572768" cy="30175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1325880"/>
            <a:ext cx="512064" cy="512064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1325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57400" y="192024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计算损失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167128" y="2331720"/>
            <a:ext cx="1207008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24231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对比预测值与真实值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5688" y="2971800"/>
            <a:ext cx="1389888" cy="6583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2075688" y="2971800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criterion(output, batch_y)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38728" y="3108960"/>
            <a:ext cx="30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984248" y="4041648"/>
            <a:ext cx="1572768" cy="16459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6" name="Shape 24"/>
          <p:cNvSpPr/>
          <p:nvPr/>
        </p:nvSpPr>
        <p:spPr>
          <a:xfrm>
            <a:off x="3694176" y="1188720"/>
            <a:ext cx="1572768" cy="30175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24528" y="1325880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4224528" y="1325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767328" y="192024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清零梯度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877056" y="2331720"/>
            <a:ext cx="120700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67328" y="24231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清除上一步累积的梯度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85616" y="2971800"/>
            <a:ext cx="1389888" cy="6583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3" name="Text 31"/>
          <p:cNvSpPr/>
          <p:nvPr/>
        </p:nvSpPr>
        <p:spPr>
          <a:xfrm>
            <a:off x="3785616" y="2971800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optimizer.zero_grad()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48656" y="3108960"/>
            <a:ext cx="30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694176" y="4041648"/>
            <a:ext cx="1572768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Shape 34"/>
          <p:cNvSpPr/>
          <p:nvPr/>
        </p:nvSpPr>
        <p:spPr>
          <a:xfrm>
            <a:off x="5404104" y="1188720"/>
            <a:ext cx="1572768" cy="30175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34456" y="1325880"/>
            <a:ext cx="512064" cy="512064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38" name="Text 36"/>
          <p:cNvSpPr/>
          <p:nvPr/>
        </p:nvSpPr>
        <p:spPr>
          <a:xfrm>
            <a:off x="5934456" y="1325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477256" y="192024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586984" y="2331720"/>
            <a:ext cx="1207008" cy="0"/>
          </a:xfrm>
          <a:prstGeom prst="line">
            <a:avLst/>
          </a:prstGeom>
          <a:noFill/>
          <a:ln w="19050">
            <a:solidFill>
              <a:srgbClr val="0304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77256" y="24231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计算所有参数梯度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95544" y="2971800"/>
            <a:ext cx="1389888" cy="6583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3" name="Text 41"/>
          <p:cNvSpPr/>
          <p:nvPr/>
        </p:nvSpPr>
        <p:spPr>
          <a:xfrm>
            <a:off x="5495544" y="2971800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58584" y="3108960"/>
            <a:ext cx="30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404104" y="4041648"/>
            <a:ext cx="1572768" cy="16459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4032" y="1188720"/>
            <a:ext cx="1572768" cy="30175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44384" y="1325880"/>
            <a:ext cx="512064" cy="51206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7644384" y="1325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187184" y="1920240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更新权重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296912" y="2331720"/>
            <a:ext cx="120700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87184" y="242316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按优化器规则更新参数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05472" y="2971800"/>
            <a:ext cx="1389888" cy="6583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3" name="Text 51"/>
          <p:cNvSpPr/>
          <p:nvPr/>
        </p:nvSpPr>
        <p:spPr>
          <a:xfrm>
            <a:off x="7205472" y="2971800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optimizer.step()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14032" y="4041648"/>
            <a:ext cx="1572768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5" name="Shape 53"/>
          <p:cNvSpPr/>
          <p:nvPr/>
        </p:nvSpPr>
        <p:spPr>
          <a:xfrm>
            <a:off x="457200" y="4370832"/>
            <a:ext cx="8321040" cy="292608"/>
          </a:xfrm>
          <a:prstGeom prst="roundRect">
            <a:avLst>
              <a:gd name="adj" fmla="val 25000"/>
            </a:avLst>
          </a:prstGeom>
          <a:solidFill>
            <a:srgbClr val="90E0EF">
              <a:alpha val="4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43708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循环往复，直到 loss 收敛到满意的值（或达到预设 epoch 数）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8" name="Text 5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模型保存与加载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56032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只保存参数（state_dict），不保存模型结构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3977640" cy="47548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463040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37160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保存模型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1938528"/>
            <a:ext cx="3703320" cy="1417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1168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torch.save(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19456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model.state_dict(),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56032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'model.pth'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74320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只保存参数，不保存结构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429000"/>
            <a:ext cx="3703320" cy="457200"/>
          </a:xfrm>
          <a:prstGeom prst="roundRect">
            <a:avLst>
              <a:gd name="adj" fmla="val 16000"/>
            </a:avLst>
          </a:prstGeom>
          <a:solidFill>
            <a:srgbClr val="90E0EF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290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state_dict() = 参数字典（OrderedDict）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37160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371600"/>
            <a:ext cx="3977640" cy="47548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1463040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463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57800" y="137160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加载模型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846320" y="1938528"/>
            <a:ext cx="3703320" cy="1417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01168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SimpleModel()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219456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先创建模型实例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56032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model.load_state_dict(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274320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torch.load('model.pth')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292608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310896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model.eval()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429000"/>
            <a:ext cx="3703320" cy="457200"/>
          </a:xfrm>
          <a:prstGeom prst="roundRect">
            <a:avLst>
              <a:gd name="adj" fmla="val 16000"/>
            </a:avLst>
          </a:prstGeom>
          <a:solidFill>
            <a:srgbClr val="90E0EF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4290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必须先实例化模型才能 load_state_dict！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3C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重要：必须先实例化模型（创建模型对象）才能加载参数！直接 load 会报错：RuntimeError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代码实战：y = 2x + 1 线性回归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1148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50292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029200" cy="384048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代码（完整训练循环）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81328"/>
            <a:ext cx="4846320" cy="3154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7276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73278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98424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模型定义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14426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nn.Linear(1, 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30428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torch.optim.Adam(model.parameters(), lr=0.01)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46430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 = nn.MSELoss()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271576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训练数据: y = 2x + 1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87578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x_data = torch.tensor([[1.],[2.],[3.],[4.]])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03580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y_data = torch.tensor([[3.],[5.],[7.],[9.]])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28726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range(100):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44728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= model(x_data)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60730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criterion(output, y_data)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76732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optimizer.zero_grad()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92734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08736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optimizer.step()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247388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epoch % 20 == 0: print(loss.item())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1097280"/>
            <a:ext cx="3017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0" y="1097280"/>
            <a:ext cx="3017520" cy="38404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10972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训练结果（100 轮后）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06440" y="1572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≈ 2.0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064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 ≈ 1.0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06440" y="2267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loss &lt; 0.01（收敛）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806440" y="26151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完美拟合 y = 2x + 1！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0" y="315468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69280" y="3154680"/>
            <a:ext cx="3017520" cy="38404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0" y="31546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预测验证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11880"/>
            <a:ext cx="2834640" cy="292608"/>
          </a:xfrm>
          <a:prstGeom prst="rect">
            <a:avLst/>
          </a:prstGeom>
          <a:solidFill>
            <a:srgbClr val="90E0EF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760720" y="36118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36118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 ŷ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0" y="36118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60720" y="39502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3950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≈11.0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80960" y="39502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60720" y="42702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42702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≈21.0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80960" y="42702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&amp; 下节预告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7432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6400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463040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1536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前向传播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" y="1810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数据逐层计算，model.train() / model.eval() 切换状态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12848"/>
            <a:ext cx="6400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1284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回归用 MSE，分类用 CrossEntropy，切勿混用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62656"/>
            <a:ext cx="6400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962656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3035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33101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loss.backward() 自动求导，optimizer.zero_grad() 防累加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12464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12464"/>
            <a:ext cx="6400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712464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8992" y="37856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78992" y="40599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Adam（推荐）+ SGD；lr=0.001 vs lr=0.01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462272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462272"/>
            <a:ext cx="6400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4462272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8992" y="45354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训练循环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78992" y="48097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前向→损失→清零→反向→更新，5 步循环迭代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40680" y="1051560"/>
            <a:ext cx="3291840" cy="3657600"/>
          </a:xfrm>
          <a:prstGeom prst="roundRect">
            <a:avLst>
              <a:gd name="adj" fmla="val 3333"/>
            </a:avLst>
          </a:prstGeom>
          <a:solidFill>
            <a:srgbClr val="03045E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23560" y="1234440"/>
            <a:ext cx="1097280" cy="347472"/>
          </a:xfrm>
          <a:prstGeom prst="roundRect">
            <a:avLst>
              <a:gd name="adj" fmla="val 39474"/>
            </a:avLst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5623560" y="12344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下节预告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23560" y="1691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 1.4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5623560" y="2240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MNIST 手写数字分类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715000" y="297180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5989320" y="2880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卷积神经网络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715000" y="3355848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5989320" y="32644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LeNet-5 经典架构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715000" y="3739896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36484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 &gt; 95% 实战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23560" y="4069080"/>
            <a:ext cx="283464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4160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准备开启深度学习第一站！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 1.3 | 训练循环</dc:title>
  <dc:subject>PyTorch 基础 - 训练循环（Forward / Backward / Optimizer）</dc:subject>
  <dc:creator>Harry AI</dc:creator>
  <cp:lastModifiedBy>Harry AI</cp:lastModifiedBy>
  <cp:revision>1</cp:revision>
  <dcterms:created xsi:type="dcterms:W3CDTF">2026-05-20T03:46:41Z</dcterms:created>
  <dcterms:modified xsi:type="dcterms:W3CDTF">2026-05-20T03:46:41Z</dcterms:modified>
</cp:coreProperties>
</file>