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25880" y="27432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1720" y="27432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0" y="27432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27432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9240" y="27432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27432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27432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6760" y="27432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28016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128016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128016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28016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28016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128016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28016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128016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28016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28600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228600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228600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228600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228600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228600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228600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60920" y="228600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228600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29184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329184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31720" y="329184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29184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329184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9240" y="329184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329184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60920" y="329184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66760" y="329184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29768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25880" y="429768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429768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37560" y="429768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43400" y="429768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49240" y="429768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429768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60920" y="429768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66760" y="4297680"/>
            <a:ext cx="36576" cy="36576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20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基础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13258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1.2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02920" y="1719072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数据管道</a:t>
            </a:r>
            <a:endParaRPr lang="en-US" sz="6200" dirty="0"/>
          </a:p>
        </p:txBody>
      </p:sp>
      <p:sp>
        <p:nvSpPr>
          <p:cNvPr id="51" name="Text 49"/>
          <p:cNvSpPr/>
          <p:nvPr/>
        </p:nvSpPr>
        <p:spPr>
          <a:xfrm>
            <a:off x="502920" y="28529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 / DataLoader 深度解析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502920" y="3493008"/>
            <a:ext cx="41148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" y="3703320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70332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基础 | 数据加载核心组件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498080" y="4297680"/>
            <a:ext cx="548640" cy="548640"/>
          </a:xfrm>
          <a:prstGeom prst="rect">
            <a:avLst>
              <a:gd name="adj" fmla="val 13333"/>
            </a:avLst>
          </a:prstGeom>
          <a:solidFill>
            <a:srgbClr val="0077B6">
              <a:alpha val="50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18120" y="3931920"/>
            <a:ext cx="548640" cy="548640"/>
          </a:xfrm>
          <a:prstGeom prst="rect">
            <a:avLst>
              <a:gd name="adj" fmla="val 13333"/>
            </a:avLst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530352" cy="530352"/>
          </a:xfrm>
          <a:prstGeom prst="rect">
            <a:avLst>
              <a:gd name="adj" fmla="val 1724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Dataset本质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78992" y="135331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92808"/>
            <a:ext cx="530352" cy="530352"/>
          </a:xfrm>
          <a:prstGeom prst="rect">
            <a:avLst>
              <a:gd name="adj" fmla="val 1724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928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89280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DataLoader配置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78992" y="21031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42616"/>
            <a:ext cx="530352" cy="530352"/>
          </a:xfrm>
          <a:prstGeom prst="rect">
            <a:avLst>
              <a:gd name="adj" fmla="val 1724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426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642616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数据预处理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78992" y="285292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392424"/>
            <a:ext cx="530352" cy="530352"/>
          </a:xfrm>
          <a:prstGeom prst="rect">
            <a:avLst>
              <a:gd name="adj" fmla="val 1724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9242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392424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数据增强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78992" y="360273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42232"/>
            <a:ext cx="530352" cy="530352"/>
          </a:xfrm>
          <a:prstGeom prst="rect">
            <a:avLst>
              <a:gd name="adj" fmla="val 1724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422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14223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代码实战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78992" y="435254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1005840"/>
            <a:ext cx="1005840" cy="3474720"/>
          </a:xfrm>
          <a:prstGeom prst="rect">
            <a:avLst>
              <a:gd name="adj" fmla="val 9091"/>
            </a:avLst>
          </a:prstGeom>
          <a:solidFill>
            <a:srgbClr val="90E0EF">
              <a:alpha val="50000"/>
            </a:srgbClr>
          </a:solidFill>
          <a:ln w="12700">
            <a:solidFill>
              <a:srgbClr val="90E0E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13816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9728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312164"/>
            <a:ext cx="438912" cy="438912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121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53312" y="109728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Dataset 的两个核心方法：__len__() 和 __getitem__()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075688"/>
            <a:ext cx="813816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075688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290572"/>
            <a:ext cx="438912" cy="438912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2905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53312" y="2075688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DataLoader 的 batch_size、shuffle、num_workers 参数含义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813816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054096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268980"/>
            <a:ext cx="438912" cy="438912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2689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53312" y="3054096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 torchvision.transforms 的预处理与数据增强方法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4032504"/>
            <a:ext cx="8138160" cy="868680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032504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247388"/>
            <a:ext cx="438912" cy="438912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2473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53312" y="4032504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能够独立构建自定义 Dataset 并完成数据加载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 的本质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1170432"/>
          </a:xfrm>
          <a:prstGeom prst="rect">
            <a:avLst>
              <a:gd name="adj" fmla="val 7813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3977640" cy="292608"/>
          </a:xfrm>
          <a:prstGeom prst="rect">
            <a:avLst>
              <a:gd name="adj" fmla="val 3125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4241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__len__(self):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(self.data)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682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返回数据集大小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1188720" cy="256032"/>
          </a:xfrm>
          <a:prstGeom prst="rect">
            <a:avLst>
              <a:gd name="adj" fmla="val 21429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96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菜的数量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1170432"/>
          </a:xfrm>
          <a:prstGeom prst="rect">
            <a:avLst>
              <a:gd name="adj" fmla="val 7813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05840"/>
            <a:ext cx="4023360" cy="292608"/>
          </a:xfrm>
          <a:prstGeom prst="rect">
            <a:avLst>
              <a:gd name="adj" fmla="val 3125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424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__getitem__(self, idx):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self.data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[idx], self.labels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[idx]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682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按索引取样本 (data, label)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39696"/>
            <a:ext cx="1188720" cy="256032"/>
          </a:xfrm>
          <a:prstGeom prst="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396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按索引点菜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生活类比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770632"/>
            <a:ext cx="8229600" cy="228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98648"/>
            <a:ext cx="265176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304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98648"/>
            <a:ext cx="2651760" cy="64008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729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37673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菜单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37560" y="2898648"/>
            <a:ext cx="265176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2898648"/>
            <a:ext cx="265176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1729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__len__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37560" y="37673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菜的数量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7920" y="2898648"/>
            <a:ext cx="265176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2898648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1729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__getitem__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217920" y="37673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点菜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136392" y="3657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016752" y="3657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90E0EF">
              <a:alpha val="4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5720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关键点：Dataset 只需实现 __len__ 和 __getitem__，其余由 DataLoader 自动完成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DataLoader 核心参数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69080" cy="187452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4069080" cy="9144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61872"/>
            <a:ext cx="548640" cy="54864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每批样本数；过大显存爆炸，过小梯度不稳定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487168"/>
            <a:ext cx="3611880" cy="274320"/>
          </a:xfrm>
          <a:prstGeom prst="rect">
            <a:avLst>
              <a:gd name="adj" fmla="val 20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87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batch_size=32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4069080" cy="187452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05840"/>
            <a:ext cx="406908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261872"/>
            <a:ext cx="548640" cy="5486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18745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训练时True打乱顺序；测试时False保持一致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487168"/>
            <a:ext cx="3611880" cy="274320"/>
          </a:xfrm>
          <a:prstGeom prst="rect">
            <a:avLst>
              <a:gd name="adj" fmla="val 20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487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shuffle=True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4069080" cy="187452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063240"/>
            <a:ext cx="406908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319272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19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3291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num_workers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" y="39319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多进程加载；Windows建议0避免问题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4544568"/>
            <a:ext cx="3611880" cy="274320"/>
          </a:xfrm>
          <a:prstGeom prst="rect">
            <a:avLst>
              <a:gd name="adj" fmla="val 20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445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num_workers=4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063240"/>
            <a:ext cx="4069080" cy="187452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063240"/>
            <a:ext cx="4069080" cy="9144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319272"/>
            <a:ext cx="548640" cy="548640"/>
          </a:xfrm>
          <a:prstGeom prst="ellipse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319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32120" y="3291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drop_last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846320" y="39319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丢弃不完整batch；防止梯度不稳定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4544568"/>
            <a:ext cx="3611880" cy="274320"/>
          </a:xfrm>
          <a:prstGeom prst="rect">
            <a:avLst>
              <a:gd name="adj" fmla="val 20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5445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drop_last=False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数据预处理（Preprocessing）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Transforms 流水线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1645920" cy="502920"/>
          </a:xfrm>
          <a:prstGeom prst="rect">
            <a:avLst>
              <a:gd name="adj" fmla="val 14545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ToTensor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261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51760" y="1261872"/>
            <a:ext cx="1645920" cy="502920"/>
          </a:xfrm>
          <a:prstGeom prst="rect">
            <a:avLst>
              <a:gd name="adj" fmla="val 14545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261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261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261872"/>
            <a:ext cx="1645920" cy="502920"/>
          </a:xfrm>
          <a:prstGeom prst="rect">
            <a:avLst>
              <a:gd name="adj" fmla="val 1454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618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1783080"/>
            <a:ext cx="54864" cy="20116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57400"/>
            <a:ext cx="265176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25400">
            <a:solidFill>
              <a:srgbClr val="0304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057400"/>
            <a:ext cx="2651760" cy="4572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ToTensor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2651760"/>
            <a:ext cx="2377440" cy="457200"/>
          </a:xfrm>
          <a:prstGeom prst="rect">
            <a:avLst>
              <a:gd name="adj" fmla="val 12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[0,255] PIL  →  [0,1] Tensor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172968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PIL Image / NumPy 数组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转为 PyTorch Tensor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并自动将 HWC → CHW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2057400"/>
            <a:ext cx="265176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9272" y="2057400"/>
            <a:ext cx="265176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56432" y="2651760"/>
            <a:ext cx="2377440" cy="457200"/>
          </a:xfrm>
          <a:prstGeom prst="rect">
            <a:avLst>
              <a:gd name="adj" fmla="val 12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任意尺寸  →  固定尺寸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56432" y="3172968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统一到固定尺寸（如 224×224）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保证网络输入形状一致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支持插值算法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81344" y="2057400"/>
            <a:ext cx="2651760" cy="2606040"/>
          </a:xfrm>
          <a:prstGeom prst="rect">
            <a:avLst>
              <a:gd name="adj" fmla="val 3509"/>
            </a:avLst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2057400"/>
            <a:ext cx="26517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18504" y="2651760"/>
            <a:ext cx="2377440" cy="457200"/>
          </a:xfrm>
          <a:prstGeom prst="rect">
            <a:avLst>
              <a:gd name="adj" fmla="val 12000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减均值 ÷ 标准差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18504" y="3172968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使数据均值为0、标准差为1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加速模型收敛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常用: mean=0.1307, std=0.3081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709160"/>
            <a:ext cx="8229600" cy="347472"/>
          </a:xfrm>
          <a:prstGeom prst="rect">
            <a:avLst>
              <a:gd name="adj" fmla="val 15789"/>
            </a:avLst>
          </a:prstGeom>
          <a:solidFill>
            <a:srgbClr val="90E0EF">
              <a:alpha val="4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7091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使用: transforms.Compose([transforms.ToTensor(), transforms.Normalize(mean, std)])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数据增强（Data Augmentation）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75488"/>
          </a:xfrm>
          <a:prstGeom prst="rect">
            <a:avLst>
              <a:gd name="adj" fmla="val 15385"/>
            </a:avLst>
          </a:prstGeom>
          <a:solidFill>
            <a:srgbClr val="90E0EF">
              <a:alpha val="5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核心思想：同一张图 × 不同增强 = 更多训练样本 → 提高模型泛化能力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965960" cy="283464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72768"/>
            <a:ext cx="1965960" cy="566928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1664208"/>
            <a:ext cx="658368" cy="384048"/>
          </a:xfrm>
          <a:prstGeom prst="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66420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RandomHorizontalFlip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715768"/>
            <a:ext cx="1325880" cy="274320"/>
          </a:xfrm>
          <a:prstGeom prst="rect">
            <a:avLst>
              <a:gd name="adj" fmla="val 20000"/>
            </a:avLst>
          </a:prstGeom>
          <a:solidFill>
            <a:srgbClr val="03045E">
              <a:alpha val="15000"/>
            </a:srgbClr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157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081528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50%概率水平镜像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保持标签不变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最常用的增强方法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1572768"/>
            <a:ext cx="1965960" cy="283464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1572768"/>
            <a:ext cx="1965960" cy="5669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664208"/>
            <a:ext cx="658368" cy="384048"/>
          </a:xfrm>
          <a:prstGeom prst="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166420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21945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RandomRotation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2715768"/>
            <a:ext cx="1325880" cy="274320"/>
          </a:xfrm>
          <a:prstGeom prst="rect">
            <a:avLst>
              <a:gd name="adj" fmla="val 20000"/>
            </a:avLst>
          </a:prstGeom>
          <a:solidFill>
            <a:srgbClr val="0077B6">
              <a:alpha val="1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27157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degrees = ±10°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70048" y="3081528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随机旋转±10度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防止模型对方向敏感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超出范围自动填充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572768"/>
            <a:ext cx="1965960" cy="283464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572768"/>
            <a:ext cx="196596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21808" y="1664208"/>
            <a:ext cx="658368" cy="384048"/>
          </a:xfrm>
          <a:prstGeom prst="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166420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1945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ColorJitter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2715768"/>
            <a:ext cx="1325880" cy="274320"/>
          </a:xfrm>
          <a:prstGeom prst="rect">
            <a:avLst>
              <a:gd name="adj" fmla="val 20000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7157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亮度/对比度/饱和度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3168" y="3081528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随机调整颜色三要素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让模型对颜色鲁棒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h=0.2 s=0.2 b=0.2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1572768"/>
            <a:ext cx="1965960" cy="283464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1572768"/>
            <a:ext cx="1965960" cy="566928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24928" y="1664208"/>
            <a:ext cx="658368" cy="384048"/>
          </a:xfrm>
          <a:prstGeom prst="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1664208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21945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RandomCrop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86600" y="2715768"/>
            <a:ext cx="1325880" cy="274320"/>
          </a:xfrm>
          <a:prstGeom prst="rect">
            <a:avLst>
              <a:gd name="adj" fmla="val 20000"/>
            </a:avLst>
          </a:prstGeom>
          <a:solidFill>
            <a:srgbClr val="03045E">
              <a:alpha val="15000"/>
            </a:srgbClr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271576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 + 放大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76288" y="3081528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随机裁剪后填充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或直接放大裁剪区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常配合 Resize 使用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572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注意：数据增强仅在训练时使用，测试/验证时禁用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0" y="4544568"/>
            <a:ext cx="3017520" cy="384048"/>
          </a:xfrm>
          <a:prstGeom prst="rect">
            <a:avLst>
              <a:gd name="adj" fmla="val 1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45445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train_loader, val_loader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Magic Numbers 从何而来？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417320"/>
          </a:xfrm>
          <a:prstGeom prst="rect">
            <a:avLst>
              <a:gd name="adj" fmla="val 7742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789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MNIST 标准化的魔法数字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444752"/>
            <a:ext cx="3200400" cy="822960"/>
          </a:xfrm>
          <a:prstGeom prst="rect">
            <a:avLst>
              <a:gd name="adj" fmla="val 11111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4475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= 0.1307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0" y="1444752"/>
            <a:ext cx="3200400" cy="822960"/>
          </a:xfrm>
          <a:prstGeom prst="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4475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 = 0.3081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这些数字 = MNIST 训练集所有像素值的均值和标准差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8229600" cy="384048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07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9077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29077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512064"/>
          </a:xfrm>
          <a:prstGeom prst="rect">
            <a:avLst/>
          </a:prstGeom>
          <a:solidFill>
            <a:srgbClr val="90E0E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91840"/>
            <a:ext cx="64008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9184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29184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0.1307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94960" y="3291840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0.3081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803904"/>
            <a:ext cx="8229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03904"/>
            <a:ext cx="64008" cy="5120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03904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380390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(0.4914, 0.4822, 0.4465)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94960" y="380390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(0.247, 0.243, 0.261)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315968"/>
            <a:ext cx="8229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90E0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315968"/>
            <a:ext cx="64008" cy="512064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1596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03120" y="431596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(0.485, 0.456, 0.406)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94960" y="431596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4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(0.229, 0.224, 0.225)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CIFAR-10 和 ImageNet 使用 3 通道均值/标准差（RGB分别统计）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代码实战：完整数据管道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37744" cy="274320"/>
          </a:xfrm>
          <a:prstGeom prst="rect">
            <a:avLst>
              <a:gd name="adj" fmla="val 19231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243584"/>
            <a:ext cx="8229600" cy="1207008"/>
          </a:xfrm>
          <a:prstGeom prst="rect">
            <a:avLst>
              <a:gd name="adj" fmla="val 757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98448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NumberDataset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(Dataset):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data, labels):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self.data = data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self.labels = labels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__len__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(self.data)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__getitem__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idx):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self.data[idx], self.labels[idx]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237744" cy="274320"/>
          </a:xfrm>
          <a:prstGeom prst="rect">
            <a:avLst>
              <a:gd name="adj" fmla="val 19231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4203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DataLoader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3977640" cy="621792"/>
          </a:xfrm>
          <a:prstGeom prst="rect">
            <a:avLst>
              <a:gd name="adj" fmla="val 1470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NumberDataset(train_data, train_labels)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DataLoader(dataset, batch_size=3, shuffle=True)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542032"/>
            <a:ext cx="237744" cy="274320"/>
          </a:xfrm>
          <a:prstGeom prst="rect">
            <a:avLst>
              <a:gd name="adj" fmla="val 1923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54203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74336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迭代获取 Batch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71216"/>
            <a:ext cx="4023360" cy="621792"/>
          </a:xfrm>
          <a:prstGeom prst="rect">
            <a:avLst>
              <a:gd name="adj" fmla="val 1470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92608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batch_data, batch_labels in loader: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print(batch_data.shape)  # [3, 784]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950976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11880"/>
            <a:ext cx="8229600" cy="320040"/>
          </a:xfrm>
          <a:prstGeom prst="rect">
            <a:avLst>
              <a:gd name="adj" fmla="val 28571"/>
            </a:avLst>
          </a:prstGeom>
          <a:solidFill>
            <a:srgbClr val="90E0EF">
              <a:alpha val="4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95020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torch.Size([3, 784])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← batch_data 的形状（3张图，每张784维）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torch.Size([3])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 ← batch_labels 的形状（3个标签）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&amp; 下节预告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35024"/>
            <a:ext cx="51206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9047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444752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 = 抽象数据接口，只需实现 __len__ 和 __getitem__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48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10312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DataLoader 管理批加载、多进程、打乱等复杂逻辑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07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276148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transforms.Compose 串联预处理与数据增强流水线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65576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65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3419856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Normalization 的参数来自数据集本身的统计值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06440" y="987552"/>
            <a:ext cx="2971800" cy="3547872"/>
          </a:xfrm>
          <a:prstGeom prst="rect">
            <a:avLst>
              <a:gd name="adj" fmla="val 3692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987552"/>
            <a:ext cx="2971800" cy="594360"/>
          </a:xfrm>
          <a:prstGeom prst="rect">
            <a:avLst>
              <a:gd name="adj" fmla="val 18462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1417320"/>
            <a:ext cx="297180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102412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12618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 1.3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89320" y="17556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训练循环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035040" y="2395728"/>
            <a:ext cx="2514600" cy="384048"/>
          </a:xfrm>
          <a:prstGeom prst="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3957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前向传播 Forward Pass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871216"/>
            <a:ext cx="2514600" cy="384048"/>
          </a:xfrm>
          <a:prstGeom prst="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87121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损失函数 Loss Function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346704"/>
            <a:ext cx="2514600" cy="384048"/>
          </a:xfrm>
          <a:prstGeom prst="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34670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反向传播 Backpropagation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3822192"/>
            <a:ext cx="2514600" cy="384048"/>
          </a:xfrm>
          <a:prstGeom prst="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8221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优化器 Optimizer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5120640" cy="384048"/>
          </a:xfrm>
          <a:prstGeom prst="rect">
            <a:avLst>
              <a:gd name="adj" fmla="val 16667"/>
            </a:avLst>
          </a:prstGeom>
          <a:solidFill>
            <a:srgbClr val="90E0EF">
              <a:alpha val="50000"/>
            </a:srgbClr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6634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下一节：从数据到模型，理解一次完整的训练前向→损失→反向→更新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2026-05-20T03:45:50Z</dcterms:created>
  <dcterms:modified xsi:type="dcterms:W3CDTF">2026-05-20T03:45:50Z</dcterms:modified>
</cp:coreProperties>
</file>